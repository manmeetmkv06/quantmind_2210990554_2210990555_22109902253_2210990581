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7559675" cy="10691800"/>
  <p:embeddedFontLst>
    <p:embeddedFont>
      <p:font typeface="Roboto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6a153bab9_0_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6a153bab9_0_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6a153bab9_0_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6a153bab9_0_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6a153bab9_0_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6a153bab9_0_1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6a153bab9_0_1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6a153bab9_0_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6a153bab9_0_1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a153bab9_0_1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6a153bab9_0_1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6a153bab9_0_1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6a153bab9_0_2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6a153bab9_0_2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6a153bab9_0_2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6a153bab9_0_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6a153bab9_0_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6a153bab9_0_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Driven Automated Trading System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Manmeet Kaur ( 2210990554 )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Mann Sharma ( 2210990555 )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Mohd. Ishaan ( 2210990581 )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Sanya (2210992253)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Rajat Takkar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Summary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AI with stock trading has shifted paradigms from human-led execution to precise, high-frequency automated decision-making. This study analyzes the evolution from 1995 to 2024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21450" y="1105625"/>
            <a:ext cx="85011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Dominance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21450" y="2831225"/>
            <a:ext cx="4250700" cy="30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67%</a:t>
            </a:r>
            <a:endParaRPr sz="1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AI-Driven Market Volume</a:t>
            </a:r>
            <a:endParaRPr sz="3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701700" y="2894825"/>
            <a:ext cx="38895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Trading volume managed by AI systems surged from just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14.3% in 2015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over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67% in 2024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High-Frequency Trading (HFT) now accounts for nearly 60% of all market trades, utilizing millisecond execution speeds.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272475" y="1298700"/>
            <a:ext cx="8387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CONVERSATIONAL INTELLIGENCE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43075" y="2407600"/>
            <a:ext cx="26727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Analysis</a:t>
            </a:r>
            <a:br>
              <a:rPr b="1" lang="en-US" sz="2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Using Natural Language Processing to decode news headlines and social media trends (Twitter, Reddit).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229488" y="2350700"/>
            <a:ext cx="2857500" cy="3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Scoring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Categorizing public mood. Positive sentiment correlates with average gains up to 3.5%.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6200700" y="2350700"/>
            <a:ext cx="2672700" cy="3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 Generation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Turning qualitative data into quantitative signals before prices fully reflect new information.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727400" y="1028575"/>
            <a:ext cx="77481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ARCHITECTURES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831425" y="2635075"/>
            <a:ext cx="633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926425" y="1938475"/>
            <a:ext cx="7549200" cy="4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&amp; CNN Synergy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State-of-the-art systems utilize: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Networks: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Excellent at capturing temporal dependencies and long-term time-series patterns.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Layers: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learn features from price charts treated as visual data.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Gating Mechanisms: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"Forget gates" and "Input gates" filter market noise effectively.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/>
        </p:nvSpPr>
        <p:spPr>
          <a:xfrm>
            <a:off x="1708800" y="1196925"/>
            <a:ext cx="74352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PORTFOLIO THEORY (MPT)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698975" y="2163525"/>
            <a:ext cx="3312300" cy="3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Risk-Return Trade-off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 Markowitz model, maximizing returns for a given risk level via variance minimization.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821725" y="2279625"/>
            <a:ext cx="3653700" cy="3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Optimization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Utilizing Genetic Algorithms and Swarm Intelligence to navigate non-convex landscapes and transaction constraints.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CVaR (Conditional Value at Risk)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manage extreme tail risks during market volatility.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1216950" y="914825"/>
            <a:ext cx="67101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DYNAMICS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599450" y="1822325"/>
            <a:ext cx="44070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&amp; Fragility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improves market efficiency by narrowing spreads and ensuring instant price discovery. However, the rise of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"Phantom Liquidity"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cascading risks can lead to events like the 2010 Flash Crash.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 is shifting from floor traders to specialists in algorithm development and data architecture.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stock computer market"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325" y="1737025"/>
            <a:ext cx="3605275" cy="42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0" y="1649350"/>
            <a:ext cx="936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6671021" y="4367363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6939724" y="3003294"/>
            <a:ext cx="17817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1210775" y="955125"/>
            <a:ext cx="7165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ETHICS &amp; REGULATION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684750" y="1964500"/>
            <a:ext cx="73215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Algorithmic Bias: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Unintentional reinforcement of biases present in training data, leading to unfair advantages.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Manipulation: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Risks of HFT deceptive practices such as "Spoofing" and "Layering" to push prices artificially.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Push: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EU AI Act (2026) and MiFID II are enforcing stricter transparency and auditing for "Black Box" models.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Systemic Risk: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Interconnected systems creating dangerous feedback loops during periods of market stress.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